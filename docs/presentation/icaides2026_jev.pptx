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 u="none">
                <a:solidFill>
                  <a:srgbClr val="595959"/>
                </a:solidFill>
                <a:latin typeface="Arial"/>
              </a:rPr>
              <a:t>ICAIDES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999713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 u="none">
                <a:solidFill>
                  <a:srgbClr val="000000"/>
                </a:solidFill>
                <a:latin typeface="Arial"/>
              </a:rPr>
              <a:t>Reliable Structured-Decision Applicant Ranking with a Non-Autoregressive System One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749039"/>
            <a:ext cx="99971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u="none">
                <a:solidFill>
                  <a:srgbClr val="595959"/>
                </a:solidFill>
                <a:latin typeface="Arial"/>
              </a:rPr>
              <a:t>Jessie Angelica · Hasanul Fahmi Zuhri · Rusdianto Roestam · Muhammad Arief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4484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 u="none">
                <a:solidFill>
                  <a:srgbClr val="000000"/>
                </a:solidFill>
                <a:latin typeface="Arial"/>
              </a:rPr>
              <a:t>Can a model that only fills in structured answers rank applicants better than one that writes free text?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Motivation &amp;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18001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000000"/>
                </a:solidFill>
                <a:latin typeface="Arial"/>
              </a:rPr>
              <a:t>•  Free-text assessment can assert a strength or weakness the resume never supports — a hallucination — with no built-in confidence signal.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000000"/>
                </a:solidFill>
                <a:latin typeface="Arial"/>
              </a:rPr>
              <a:t>•  In September 2026, TypeSafe released Jev, the first “System One Model.”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000000"/>
                </a:solidFill>
                <a:latin typeface="Arial"/>
              </a:rPr>
              <a:t>•  No independent, peer-reviewed evaluation of it existed before this paper.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Section I — Introduction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Objective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5167" y="2103120"/>
            <a:ext cx="3383280" cy="201168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Criteria-Grounded</a:t>
            </a:r>
          </a:p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Question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4404207" y="2103120"/>
            <a:ext cx="3383280" cy="201168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Cost &amp; Latency</a:t>
            </a:r>
          </a:p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Efficiency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8153247" y="2103120"/>
            <a:ext cx="3383280" cy="201168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Repeat-to-Repeat</a:t>
            </a:r>
          </a:p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Reliability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 u="none">
                <a:solidFill>
                  <a:srgbClr val="595959"/>
                </a:solidFill>
                <a:latin typeface="Arial"/>
              </a:rPr>
              <a:t>Three contributions for deploying Jev reliably in a real applicant-ranking pipeline.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Section I — Introduction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What Is a System One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18001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000000"/>
                </a:solidFill>
                <a:latin typeface="Arial"/>
              </a:rPr>
              <a:t>•  Non-autoregressive: answers typed questions in one parallel pass — no generated tokens.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000000"/>
                </a:solidFill>
                <a:latin typeface="Arial"/>
              </a:rPr>
              <a:t>•  Three typed primitives: Noul (yes/no + confidence), Choice (multiple-choice), Score (ordinal scale).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000000"/>
                </a:solidFill>
                <a:latin typeface="Arial"/>
              </a:rPr>
              <a:t>•  This paper's questions all use Score.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Section II — Literature Review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Why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18001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000000"/>
                </a:solidFill>
                <a:latin typeface="Arial"/>
              </a:rPr>
              <a:t>•  Each Score level is judged alone — no view of neighboring levels, so a bare number carries no signal.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000000"/>
                </a:solidFill>
                <a:latin typeface="Arial"/>
              </a:rPr>
              <a:t>•  A concrete situation gives the model resume evidence to check against.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000000"/>
                </a:solidFill>
                <a:latin typeface="Arial"/>
              </a:rPr>
              <a:t>•  Trained via RLCD, a reward for calibration — not human preference (RLHF) or a verifiable outcome (RLVR).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Section II — Literature Review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2529687" y="1371600"/>
            <a:ext cx="7132320" cy="530352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1400" b="0">
                <a:solidFill>
                  <a:srgbClr val="000000"/>
                </a:solidFill>
                <a:latin typeface="Arial"/>
              </a:rPr>
              <a:t>Extraction &amp; Skill Classification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29687" y="1901952"/>
            <a:ext cx="7132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u="none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6" name="Rectangle 5"/>
          <p:cNvSpPr/>
          <p:nvPr/>
        </p:nvSpPr>
        <p:spPr>
          <a:xfrm>
            <a:off x="2529687" y="2231136"/>
            <a:ext cx="7132320" cy="530352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1400" b="0">
                <a:solidFill>
                  <a:srgbClr val="000000"/>
                </a:solidFill>
                <a:latin typeface="Arial"/>
              </a:rPr>
              <a:t>Shortlisting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29687" y="2761488"/>
            <a:ext cx="7132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u="none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8" name="Rectangle 7"/>
          <p:cNvSpPr/>
          <p:nvPr/>
        </p:nvSpPr>
        <p:spPr>
          <a:xfrm>
            <a:off x="2529687" y="3090672"/>
            <a:ext cx="7132320" cy="530352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Structured Assessment via Jev — parallel calls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9687" y="3621024"/>
            <a:ext cx="7132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u="none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9687" y="3950208"/>
            <a:ext cx="7132320" cy="530352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Direct Sort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29687" y="4480560"/>
            <a:ext cx="7132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u="none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29687" y="4809744"/>
            <a:ext cx="7132320" cy="530352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1400" b="0">
                <a:solidFill>
                  <a:srgbClr val="000000"/>
                </a:solidFill>
                <a:latin typeface="Arial"/>
              </a:rPr>
              <a:t>Score Breakdown Test (offline)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53212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 u="none">
                <a:solidFill>
                  <a:srgbClr val="595959"/>
                </a:solidFill>
                <a:latin typeface="Arial"/>
              </a:rPr>
              <a:t>Steps 1–2 are unchanged from the prior system. Contributions 1 and 2 are steps 3 and 4.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Section III — Methodology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METHODOLOGY — CONTRIBUTION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Criteria-Grounded Question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4846320" cy="365760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6596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u="none">
                <a:solidFill>
                  <a:srgbClr val="000000"/>
                </a:solidFill>
                <a:latin typeface="Arial"/>
              </a:rPr>
              <a:t>Bare Ordinal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06040"/>
            <a:ext cx="4297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0, 25, 50, 75, 100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Each level judged alone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No evidence to check against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613855" y="1828800"/>
            <a:ext cx="4846320" cy="365760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96735" y="196596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u="none">
                <a:solidFill>
                  <a:srgbClr val="000000"/>
                </a:solidFill>
                <a:latin typeface="Arial"/>
              </a:rPr>
              <a:t>Concrete 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88175" y="2606040"/>
            <a:ext cx="4297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“Skill only listed” vs. “used in a real role”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Each level still judged alone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Gives Jev resume evidence to match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3383280"/>
            <a:ext cx="10360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 u="none">
                <a:solidFill>
                  <a:srgbClr val="000000"/>
                </a:solidFill>
                <a:latin typeface="Arial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Result: per-requirement confidence 0.672 → 0.894 (Results, ahead)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METHODOLOGY — CONTRIBUTION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Direct Sort Ranking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4846320" cy="365760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6596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u="none">
                <a:solidFill>
                  <a:srgbClr val="000000"/>
                </a:solidFill>
                <a:latin typeface="Arial"/>
              </a:rPr>
              <a:t>Iterative Tournament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06040"/>
            <a:ext cx="4297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Bayesian Plackett-Luce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Round-by-round, waits on each iteration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No parallelism</a:t>
            </a:r>
          </a:p>
        </p:txBody>
      </p:sp>
      <p:sp>
        <p:nvSpPr>
          <p:cNvPr id="7" name="Rectangle 6"/>
          <p:cNvSpPr/>
          <p:nvPr/>
        </p:nvSpPr>
        <p:spPr>
          <a:xfrm>
            <a:off x="6613855" y="1828800"/>
            <a:ext cx="4846320" cy="365760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96735" y="196596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u="none">
                <a:solidFill>
                  <a:srgbClr val="000000"/>
                </a:solidFill>
                <a:latin typeface="Arial"/>
              </a:rPr>
              <a:t>Direct Sort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88175" y="2606040"/>
            <a:ext cx="4297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One score per candidate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Sort directly — no tournament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Fully parallel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3383280"/>
            <a:ext cx="10360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 u="none">
                <a:solidFill>
                  <a:srgbClr val="000000"/>
                </a:solidFill>
                <a:latin typeface="Arial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Result: well under half the model calls, ~4.5× lower latency (Results, ahead)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EXPERIMENTAL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Experimental Setup</a:t>
            </a:r>
          </a:p>
        </p:txBody>
      </p:sp>
      <p:sp>
        <p:nvSpPr>
          <p:cNvPr id="4" name="Rectangle 3"/>
          <p:cNvSpPr/>
          <p:nvPr/>
        </p:nvSpPr>
        <p:spPr>
          <a:xfrm>
            <a:off x="380847" y="2011680"/>
            <a:ext cx="2651760" cy="182880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0847" y="228600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 u="none">
                <a:solidFill>
                  <a:srgbClr val="000000"/>
                </a:solidFill>
                <a:latin typeface="Arial"/>
              </a:rPr>
              <a:t>273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8007" y="31089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 u="none">
                <a:solidFill>
                  <a:srgbClr val="595959"/>
                </a:solidFill>
                <a:latin typeface="Arial"/>
              </a:rPr>
              <a:t>shortlisted (job, applicant) pairs</a:t>
            </a:r>
          </a:p>
        </p:txBody>
      </p:sp>
      <p:sp>
        <p:nvSpPr>
          <p:cNvPr id="7" name="Rectangle 6"/>
          <p:cNvSpPr/>
          <p:nvPr/>
        </p:nvSpPr>
        <p:spPr>
          <a:xfrm>
            <a:off x="3306927" y="2011680"/>
            <a:ext cx="2651760" cy="182880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06927" y="228600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 u="none">
                <a:solidFill>
                  <a:srgbClr val="000000"/>
                </a:solidFill>
                <a:latin typeface="Arial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44087" y="31089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 u="none">
                <a:solidFill>
                  <a:srgbClr val="595959"/>
                </a:solidFill>
                <a:latin typeface="Arial"/>
              </a:rPr>
              <a:t>job profiles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2011680"/>
            <a:ext cx="2651760" cy="182880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3007" y="228600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 u="none">
                <a:solidFill>
                  <a:srgbClr val="000000"/>
                </a:solidFill>
                <a:latin typeface="Arial"/>
              </a:rPr>
              <a:t>501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31089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 u="none">
                <a:solidFill>
                  <a:srgbClr val="595959"/>
                </a:solidFill>
                <a:latin typeface="Arial"/>
              </a:rPr>
              <a:t>resumes (500 synthetic + 1 real)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59087" y="2011680"/>
            <a:ext cx="2651760" cy="182880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9087" y="228600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 u="none">
                <a:solidFill>
                  <a:srgbClr val="000000"/>
                </a:solidFill>
                <a:latin typeface="Arial"/>
              </a:rPr>
              <a:t>3×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96247" y="31089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 u="none">
                <a:solidFill>
                  <a:srgbClr val="595959"/>
                </a:solidFill>
                <a:latin typeface="Arial"/>
              </a:rPr>
              <a:t>independent repeats per pair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29768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 u="none">
                <a:solidFill>
                  <a:srgbClr val="595959"/>
                </a:solidFill>
                <a:latin typeface="Arial"/>
              </a:rPr>
              <a:t>One variable changed between systems: the assessment step. 46.1% of extracted required skills were classified must-have.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Section IV — Experimental Setup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Result: Confidence Gain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 i="0" u="none">
                <a:solidFill>
                  <a:srgbClr val="000000"/>
                </a:solidFill>
                <a:latin typeface="Arial"/>
              </a:rPr>
              <a:t>0.672 → 0.894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703320"/>
            <a:ext cx="98142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u="none">
                <a:solidFill>
                  <a:srgbClr val="000000"/>
                </a:solidFill>
                <a:latin typeface="Arial"/>
              </a:rPr>
              <a:t>Per-requirement answer confidence, bare scale vs. criteria-grounded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434840"/>
            <a:ext cx="944849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 u="none">
                <a:solidFill>
                  <a:srgbClr val="595959"/>
                </a:solidFill>
                <a:latin typeface="Arial"/>
              </a:rPr>
              <a:t>Also 0.635 → 0.766 for pooled seniority/education confidence.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Section V — Results and Discussion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Result: Efficiency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 i="0" u="none">
                <a:solidFill>
                  <a:srgbClr val="000000"/>
                </a:solidFill>
                <a:latin typeface="Arial"/>
              </a:rPr>
              <a:t>273 vs. ~2,061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703320"/>
            <a:ext cx="98142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u="none">
                <a:solidFill>
                  <a:srgbClr val="000000"/>
                </a:solidFill>
                <a:latin typeface="Arial"/>
              </a:rPr>
              <a:t>Model calls, this pipeline vs. the prior tournament-based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434840"/>
            <a:ext cx="944849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 u="none">
                <a:solidFill>
                  <a:srgbClr val="595959"/>
                </a:solidFill>
                <a:latin typeface="Arial"/>
              </a:rPr>
              <a:t>~4.5× lower per-candidate latency. Output priced at zero by design — not billed per generated token (TypeSafe's claim on price, not independently measured).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Section V — Results and Discussion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Result: Calibration &amp; Stability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 i="0" u="none">
                <a:solidFill>
                  <a:srgbClr val="000000"/>
                </a:solidFill>
                <a:latin typeface="Arial"/>
              </a:rPr>
              <a:t>0.965 vs. ≈0.957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703320"/>
            <a:ext cx="98142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u="none">
                <a:solidFill>
                  <a:srgbClr val="000000"/>
                </a:solidFill>
                <a:latin typeface="Arial"/>
              </a:rPr>
              <a:t>Kendall's τ ranking stability across 3 independent repeats, this system vs. the prior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434840"/>
            <a:ext cx="944849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 u="none">
                <a:solidFill>
                  <a:srgbClr val="595959"/>
                </a:solidFill>
                <a:latin typeface="Arial"/>
              </a:rPr>
              <a:t>Native calibrated confidence 0.894 vs. the prior system's Faithfulness 0.880 — different constructs, not a claim of higher accuracy.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Section V — Results and Discussion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 u="sng">
                <a:solidFill>
                  <a:srgbClr val="000000"/>
                </a:solidFill>
                <a:latin typeface="Arial"/>
              </a:rPr>
              <a:t>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18001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000000"/>
                </a:solidFill>
                <a:latin typeface="Arial"/>
              </a:rPr>
              <a:t>•  Confidence: 0.672 → 0.894 per requirement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000000"/>
                </a:solidFill>
                <a:latin typeface="Arial"/>
              </a:rPr>
              <a:t>•  273 vs. ~2,061 model calls, ~4.5× lower latency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000000"/>
                </a:solidFill>
                <a:latin typeface="Arial"/>
              </a:rPr>
              <a:t>•  Ranking stability: Kendall's τ = 0.965 vs. ≈0.957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 u="sng">
                <a:solidFill>
                  <a:srgbClr val="000000"/>
                </a:solidFill>
                <a:latin typeface="Arial"/>
              </a:rPr>
              <a:t>Limitations &amp; Future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572000"/>
            <a:ext cx="1018001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000000"/>
                </a:solidFill>
                <a:latin typeface="Arial"/>
              </a:rPr>
              <a:t>•  Calibration ≠ correctness — test against ground truth next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000000"/>
                </a:solidFill>
                <a:latin typeface="Arial"/>
              </a:rPr>
              <a:t>•  Only a 5-level scale tested; Jev supports up to 10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000000"/>
                </a:solidFill>
                <a:latin typeface="Arial"/>
              </a:rPr>
              <a:t>•  One pipeline — independent replication would strengthen the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Section VI — Conclusion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 u="none">
                <a:solidFill>
                  <a:srgbClr val="000000"/>
                </a:solidFill>
                <a:latin typeface="Arial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 u="none">
                <a:solidFill>
                  <a:srgbClr val="595959"/>
                </a:solidFill>
                <a:latin typeface="Arial"/>
              </a:rPr>
              <a:t>Questions &amp;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6634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 u="none">
                <a:solidFill>
                  <a:srgbClr val="595959"/>
                </a:solidFill>
                <a:latin typeface="Arial"/>
              </a:rPr>
              <a:t>Jessie Angelica · President University</a:t>
            </a:r>
          </a:p>
          <a:p>
            <a:pPr algn="ctr"/>
            <a:r>
              <a:rPr sz="1500" b="0" i="0" u="none">
                <a:solidFill>
                  <a:srgbClr val="595959"/>
                </a:solidFill>
                <a:latin typeface="Arial"/>
              </a:rPr>
              <a:t>fahmi.zuhri@unitar.my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