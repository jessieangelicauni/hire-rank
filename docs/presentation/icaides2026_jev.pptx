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822960"/>
            <a:ext cx="1463040" cy="0"/>
          </a:xfrm>
          <a:prstGeom prst="line">
            <a:avLst/>
          </a:prstGeom>
          <a:ln w="317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9601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A5F"/>
                </a:solidFill>
                <a:latin typeface="Calibri"/>
              </a:rPr>
              <a:t>ICAIDES 2026  ·  UNIVERSITAS TARUMANAGARA  ·  12–13 NOV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97228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A1A1A"/>
                </a:solidFill>
                <a:latin typeface="Calibri"/>
              </a:rPr>
              <a:t>Reliable Structured-Decision Applicant Ranking with a Non-Autoregressive System One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Jessie Angelica   ·   Hasanul Fahmi Zuhri   ·   Rusdianto Roestam   ·   Muhammad Arief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637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President University  ·  UNITAR International University  ·  BRIN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521208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5394960"/>
            <a:ext cx="8808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A1A1A"/>
                </a:solidFill>
                <a:latin typeface="Calibri"/>
              </a:rPr>
              <a:t>Can a model that only fills in structured answers rank applicants as reliably as one that writes free text — at a fraction of the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I  N  T  R  O  D  U  C  T  I  O  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Motivation &amp;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50442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3A5F"/>
                </a:solidFill>
                <a:latin typeface="Calibri"/>
              </a:rPr>
              <a:t>Free-Text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73148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1984248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Writes a paragraph verdict per applicant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02916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414016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Can assert a strength the resume never supports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184652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095752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No built-in confidence signal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.5" y="1600200"/>
            <a:ext cx="0.0" cy="329184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70167" y="1600200"/>
            <a:ext cx="50442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3A5F"/>
                </a:solidFill>
                <a:latin typeface="Calibri"/>
              </a:rPr>
              <a:t>The Gap This Paper Fills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0167" y="2073148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6199" y="1984248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TypeSafe released Jev in September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502916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6199" y="2414016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The first “System One Model”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70167" y="2932684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6199" y="2843784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No independent evaluation existed before this paper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I  N  T  R  O  D  U  C  T  I  O  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Objective &amp; Three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6B6B6B"/>
                </a:solidFill>
                <a:latin typeface="Calibri"/>
              </a:rPr>
              <a:t>Jev is TypeSafe's model, not ours. Our contribution: deploying it reliably.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317997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63A5F"/>
                </a:solidFill>
                <a:latin typeface="Calibri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.0" y="3246120"/>
            <a:ext cx="1188720.0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3383280"/>
            <a:ext cx="308853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Criteria-Grounded</a:t>
            </a:r>
          </a:p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Question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308853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Concrete situational criteria, not bare ordinal labels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2978" y="2377440"/>
            <a:ext cx="317997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63A5F"/>
                </a:solidFill>
                <a:latin typeface="Calibri"/>
              </a:rPr>
              <a:t>02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22978.333333334" y="3246120"/>
            <a:ext cx="1188720.0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2978" y="3383280"/>
            <a:ext cx="308853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Cost &amp; Latency</a:t>
            </a:r>
          </a:p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2978" y="4206240"/>
            <a:ext cx="308853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Direct sort replaces the iterative tournament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8716" y="2377440"/>
            <a:ext cx="317997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63A5F"/>
                </a:solidFill>
                <a:latin typeface="Calibri"/>
              </a:rPr>
              <a:t>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8716.666666667" y="3246120"/>
            <a:ext cx="1188720.000000001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68716" y="3383280"/>
            <a:ext cx="308853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Repeat-to-Repeat</a:t>
            </a:r>
          </a:p>
          <a:p>
            <a:pPr algn="l"/>
            <a:r>
              <a:rPr sz="1700" b="1" i="0">
                <a:solidFill>
                  <a:srgbClr val="1A1A1A"/>
                </a:solidFill>
                <a:latin typeface="Calibri"/>
              </a:rPr>
              <a:t>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8716" y="4206240"/>
            <a:ext cx="308853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Stability tests for a single-call architecture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B  A  C  K  G  R  O  U  N  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What Is a System One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Non-autoregressive: answers typed questions in one parallel pass — no generated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31799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Noul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.0" y="3319272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3474720"/>
            <a:ext cx="308853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B6B6B"/>
                </a:solidFill>
                <a:latin typeface="Calibri"/>
              </a:rPr>
              <a:t>yes / no + confidence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978" y="2606040"/>
            <a:ext cx="31799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"/>
              </a:rPr>
              <a:t>Choice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22978.333333334" y="3319272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322978" y="3474720"/>
            <a:ext cx="308853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6B6B6B"/>
                </a:solidFill>
                <a:latin typeface="Calibri"/>
              </a:rPr>
              <a:t>multiple-choice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8716" y="2606040"/>
            <a:ext cx="317997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63A5F"/>
                </a:solidFill>
                <a:latin typeface="Calibri"/>
              </a:rPr>
              <a:t>Score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8716.666666667" y="3319272"/>
            <a:ext cx="1463040.000000001" cy="0"/>
          </a:xfrm>
          <a:prstGeom prst="line">
            <a:avLst/>
          </a:prstGeom>
          <a:ln w="2540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868716" y="3474720"/>
            <a:ext cx="308853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A1A"/>
                </a:solidFill>
                <a:latin typeface="Calibri"/>
              </a:rPr>
              <a:t>ordinal scale — used throughout this paper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B  A  C  K  G  R  O  U  N  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Why It Works: Criteria Grounding &amp;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48614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A5F"/>
                </a:solidFill>
                <a:latin typeface="Calibri"/>
              </a:rPr>
              <a:t>BARE 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486140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Calibri"/>
              </a:rPr>
              <a:t>“50”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45870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Judged alone, no neighboring levels to compare — no evidence for Jev to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1691640"/>
            <a:ext cx="48614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A5F"/>
                </a:solidFill>
                <a:latin typeface="Calibri"/>
              </a:rPr>
              <a:t>CONCRETE 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2057400"/>
            <a:ext cx="486140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“Used substantively</a:t>
            </a:r>
          </a:p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a real role”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08960"/>
            <a:ext cx="458708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Gives Jev resume evidence it can actually match against.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5807" y="2194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63A5F"/>
                </a:solidFill>
                <a:latin typeface="Calibri"/>
              </a:rPr>
              <a:t>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411480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4297680"/>
            <a:ext cx="9722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A1A1A"/>
                </a:solidFill>
                <a:latin typeface="Calibri"/>
              </a:rPr>
              <a:t>Trained via RLCD — rewarded for calibration, not human preference (RLHF) or a verifiable outcome (RLVR). Calibration ≠ correctness.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M  E  T  H  O  D  O  L  O  G  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Pipeline Architecture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noFill/>
          <a:ln w="19050">
            <a:solidFill>
              <a:srgbClr val="16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63A5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536192"/>
            <a:ext cx="99788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Calibri"/>
              </a:rPr>
              <a:t>Extraction &amp; Skill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901952"/>
            <a:ext cx="99788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Qwen2.5-14B extracts skills, classifies must-have vs. nice-to-have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05840" y="2011680"/>
            <a:ext cx="0" cy="34747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7240" y="2359152"/>
            <a:ext cx="457200" cy="457200"/>
          </a:xfrm>
          <a:prstGeom prst="ellipse">
            <a:avLst/>
          </a:prstGeom>
          <a:noFill/>
          <a:ln w="19050">
            <a:solidFill>
              <a:srgbClr val="16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63A5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9788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Calibri"/>
              </a:rPr>
              <a:t>Shortlisting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06624"/>
            <a:ext cx="99788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Cosine similarity ≥ 0.8 against job requirements, no Jev call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2816352"/>
            <a:ext cx="0" cy="34747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77240" y="3163824"/>
            <a:ext cx="457200" cy="457200"/>
          </a:xfrm>
          <a:prstGeom prst="ellipse">
            <a:avLst/>
          </a:prstGeom>
          <a:noFill/>
          <a:ln w="19050">
            <a:solidFill>
              <a:srgbClr val="16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63A5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145536"/>
            <a:ext cx="99788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Calibri"/>
              </a:rPr>
              <a:t>Structured Assessment via Jev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511296"/>
            <a:ext cx="99788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One parallel call per shortlisted pair — Contribution 1; each call also repeated 3× for reliability — Contribution 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3621024"/>
            <a:ext cx="0" cy="34747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77240" y="3968496"/>
            <a:ext cx="457200" cy="457200"/>
          </a:xfrm>
          <a:prstGeom prst="ellipse">
            <a:avLst/>
          </a:prstGeom>
          <a:noFill/>
          <a:ln w="19050">
            <a:solidFill>
              <a:srgbClr val="16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63A5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950208"/>
            <a:ext cx="99788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Calibri"/>
              </a:rPr>
              <a:t>Direct Sort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315968"/>
            <a:ext cx="99788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Rank by overall score, no tournament — Contribution 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40" y="4425696"/>
            <a:ext cx="0" cy="347472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77240" y="4773168"/>
            <a:ext cx="457200" cy="457200"/>
          </a:xfrm>
          <a:prstGeom prst="ellipse">
            <a:avLst/>
          </a:prstGeom>
          <a:noFill/>
          <a:ln w="19050">
            <a:solidFill>
              <a:srgbClr val="16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163A5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5608" y="4754880"/>
            <a:ext cx="997884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1A1A1A"/>
                </a:solidFill>
                <a:latin typeface="Calibri"/>
              </a:rPr>
              <a:t>Final Ranking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8" y="5120640"/>
            <a:ext cx="99788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Calibri"/>
              </a:rPr>
              <a:t>One ranked list per job profile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623560"/>
            <a:ext cx="97228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6B6B"/>
                </a:solidFill>
                <a:latin typeface="Calibri"/>
              </a:rPr>
              <a:t>All three contributions live in step 3 and step 4 — extraction, shortlisting, and final ranking are unchanged from the prior system.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M  E  T  H  O  D  O  L  O  G  Y     —     C  O  N  T  R  I  B  U  T  I  O  N    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Criteria-Grounded Question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50442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3A5F"/>
                </a:solidFill>
                <a:latin typeface="Calibri"/>
              </a:rPr>
              <a:t>Bare Ordinal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64588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075688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0, 25, 50, 75, 100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94356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505456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Each level judged alone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24124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935224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No evidence to check against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.5" y="1691640"/>
            <a:ext cx="0.0" cy="329184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70167" y="1691640"/>
            <a:ext cx="50442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3A5F"/>
                </a:solidFill>
                <a:latin typeface="Calibri"/>
              </a:rPr>
              <a:t>Concrete Situational Criteria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0167" y="2164588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6199" y="2075688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“Skill only listed” vs. “used in a real role”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594356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6199" y="2505456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Each level still judged alone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70167" y="3024124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6199" y="2935224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Gives Jev resume evidence to match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580644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163A5F"/>
                </a:solidFill>
                <a:latin typeface="Calibri"/>
              </a:rPr>
              <a:t>Result ahead: per-requirement confidence 0.672 → 0.894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M  E  T  H  O  D  O  L  O  G  Y     —     C  O  N  T  R  I  B  U  T  I  O  N    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Direct Sort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50442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3A5F"/>
                </a:solidFill>
                <a:latin typeface="Calibri"/>
              </a:rPr>
              <a:t>Iterative Tournament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64588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075688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Monte Carlo knowledge-gradient + Plackett-Luce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846324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757424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Round-by-round, waits on each iteration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76092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187192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No parallelism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.5" y="1691640"/>
            <a:ext cx="0.0" cy="329184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70167" y="1691640"/>
            <a:ext cx="504428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3A5F"/>
                </a:solidFill>
                <a:latin typeface="Calibri"/>
              </a:rPr>
              <a:t>Direct Sort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0167" y="2164588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6199" y="2075688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One score per applicant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594356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6199" y="2505456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Sort directly — no tournament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70167" y="3024124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6199" y="2935224"/>
            <a:ext cx="47882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1A1A1A"/>
                </a:solidFill>
                <a:latin typeface="Calibri"/>
              </a:rPr>
              <a:t>Fully parallel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580644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163A5F"/>
                </a:solidFill>
                <a:latin typeface="Calibri"/>
              </a:rPr>
              <a:t>Result ahead: 273 vs. ≈2,061 model calls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E  X  P  E  R  I  M  E  N  T  A  L     S  E  T  U  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23849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63A5F"/>
                </a:solidFill>
                <a:latin typeface="Calibri"/>
              </a:rPr>
              <a:t>273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.0" y="2606040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2697480"/>
            <a:ext cx="23849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shortlisted (job, applicant) pairs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62223.75" y="1737360"/>
            <a:ext cx="0.0" cy="15544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36543" y="1737360"/>
            <a:ext cx="23849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63A5F"/>
                </a:solidFill>
                <a:latin typeface="Calibri"/>
              </a:rPr>
              <a:t>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36543.75" y="2606040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436543" y="2697480"/>
            <a:ext cx="23849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job profiles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1527.5" y="1737360"/>
            <a:ext cx="0.0" cy="15544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95847" y="1737360"/>
            <a:ext cx="23849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63A5F"/>
                </a:solidFill>
                <a:latin typeface="Calibri"/>
              </a:rPr>
              <a:t>500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.5" y="2606040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095847" y="2697480"/>
            <a:ext cx="23849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resumes — EraMatch v3.0, synthetic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80831.25" y="1737360"/>
            <a:ext cx="0.0" cy="15544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55151" y="1737360"/>
            <a:ext cx="23849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63A5F"/>
                </a:solidFill>
                <a:latin typeface="Calibri"/>
              </a:rPr>
              <a:t>3×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55151.25" y="2606040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55151" y="2697480"/>
            <a:ext cx="23849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independent repeats per pair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3977639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4160520"/>
            <a:ext cx="97228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One variable changed between systems: the assessment step. 46.1% of extracted requirements classified must-have. The must-have gate excludes 32 of 305 applicants (10.5%) a total-only baseline would have shortlisted.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R  E  S  U  L  T  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Result: Criteria-Grounded Design Raises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63A5F"/>
                </a:solidFill>
                <a:latin typeface="Calibri"/>
              </a:rPr>
              <a:t>PER-REQUIREMENT 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214884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Bare scale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2231136"/>
            <a:ext cx="729965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063240" y="1947672"/>
            <a:ext cx="4905368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54335" y="1920240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0.672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214884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Concrete criteria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63240" y="2734056"/>
            <a:ext cx="729965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063240" y="2450592"/>
            <a:ext cx="6525891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54335" y="2423160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0.894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63A5F"/>
                </a:solidFill>
                <a:latin typeface="Calibri"/>
              </a:rPr>
              <a:t>POOLED SENIORITY / EDUCATION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14884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Bare scale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63240" y="3739896"/>
            <a:ext cx="729965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063240" y="3456432"/>
            <a:ext cx="4635280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54335" y="3429000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0.635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214884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Concrete criteria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63240" y="4242816"/>
            <a:ext cx="729965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063240" y="3959352"/>
            <a:ext cx="5591535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54335" y="3931920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0.766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470916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4892040"/>
            <a:ext cx="97228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6B6B6B"/>
                </a:solidFill>
                <a:latin typeface="Calibri"/>
              </a:rPr>
              <a:t>Wilcoxon signed-rank, all differences p &lt; 0.001. Per-requirement: r = 0.89, 95% CI [0.204, 0.241] on the gain (n = 772). Effect holds for seniority, education, and pooled questions too.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R  E  S  U  L  T  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Result: Cost &amp; Latency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49528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63A5F"/>
                </a:solidFill>
                <a:latin typeface="Calibri"/>
              </a:rPr>
              <a:t>TOTAL MODEL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49528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Calibri"/>
              </a:rPr>
              <a:t>273 vs. ≈2,061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46785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alibri"/>
              </a:rPr>
              <a:t>well under half the prior system's calls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.5" y="1691640"/>
            <a:ext cx="0.0" cy="146304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61607" y="1691640"/>
            <a:ext cx="49528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63A5F"/>
                </a:solidFill>
                <a:latin typeface="Calibri"/>
              </a:rPr>
              <a:t>PER-CANDIDATE 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075688"/>
            <a:ext cx="132588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This work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24647.5" y="2386584"/>
            <a:ext cx="2438247.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924647" y="2103120"/>
            <a:ext cx="541468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54335" y="2075688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16.5s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560320"/>
            <a:ext cx="132588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Prior system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4647.5" y="2871216"/>
            <a:ext cx="2438247.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924647" y="2587752"/>
            <a:ext cx="2438247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54335" y="2560320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74.3s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108960"/>
            <a:ext cx="46785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6B6B"/>
                </a:solidFill>
                <a:latin typeface="Calibri"/>
              </a:rPr>
              <a:t>live single-profile check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" y="3749039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7240" y="3931920"/>
            <a:ext cx="97228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B6B6B"/>
                </a:solidFill>
                <a:latin typeface="Calibri"/>
              </a:rPr>
              <a:t>Output priced at zero by design — Jev generates no tokens. Caveat: the same comparison table also reports Faithfulness 0.880 (prior) vs. calibrated confidence 0.894 (this work) — different constructs, groundedness vs. calibration, not on a shared scale. Not a claim of higher accuracy.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R  E  S  U  L  T  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Result: Reliability — Repeat-to-Repeat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372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163A5F"/>
                </a:solidFill>
                <a:latin typeface="Calibri"/>
              </a:rPr>
              <a:t>ICC(1,1) = 0.998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2880360"/>
            <a:ext cx="2011680" cy="0"/>
          </a:xfrm>
          <a:prstGeom prst="line">
            <a:avLst/>
          </a:prstGeom>
          <a:ln w="2540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2990088"/>
            <a:ext cx="9722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Intraclass correlation: the fraction of score variance across 3 repeats that is real applicant signal, not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66159"/>
            <a:ext cx="92656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Calibri"/>
              </a:rPr>
              <a:t>Range 0.995–1.000 across all 10 job profiles.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416052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434340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63A5F"/>
                </a:solidFill>
                <a:latin typeface="Calibri"/>
              </a:rPr>
              <a:t>RANKING STABILITY (KENDALL'S 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214884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This work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5020056"/>
            <a:ext cx="729965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063240" y="4736592"/>
            <a:ext cx="7044167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54335" y="4709160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0.965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93792"/>
            <a:ext cx="214884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Prior system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63240" y="5504688"/>
            <a:ext cx="729965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063240" y="5221224"/>
            <a:ext cx="6985769" cy="256032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54335" y="5193792"/>
            <a:ext cx="91440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0.957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97228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Calibri"/>
              </a:rPr>
              <a:t>At least matching, not a clear win — but no regression from a far cheaper architecture.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3A5F"/>
                </a:solidFill>
                <a:latin typeface="Calibri"/>
              </a:rPr>
              <a:t>C  O  N  C  L  U  S  I  O  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749808"/>
            <a:ext cx="10637215" cy="0"/>
          </a:xfrm>
          <a:prstGeom prst="line">
            <a:avLst/>
          </a:prstGeom>
          <a:ln w="190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77240" y="896112"/>
            <a:ext cx="106372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A5F"/>
                </a:solidFill>
                <a:latin typeface="Calibri"/>
              </a:rPr>
              <a:t>OUTPERFORMS — COST &amp;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63A5F"/>
                </a:solidFill>
                <a:latin typeface="Calibri"/>
              </a:rPr>
              <a:t>273 vs. ≈2,061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.0" y="2743199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2834639"/>
            <a:ext cx="327141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model calls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48658.333333334" y="1874519"/>
            <a:ext cx="0.0" cy="8686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2978" y="1874519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63A5F"/>
                </a:solidFill>
                <a:latin typeface="Calibri"/>
              </a:rPr>
              <a:t>16.5s vs. 74.3s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22978.333333334" y="2743199"/>
            <a:ext cx="1463040.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2978" y="2834639"/>
            <a:ext cx="327141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per-applicant latency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594396.666666668" y="1874519"/>
            <a:ext cx="0.0" cy="86868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868716" y="1874519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63A5F"/>
                </a:solidFill>
                <a:latin typeface="Calibri"/>
              </a:rPr>
              <a:t>Removed by design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8716.666666667" y="2743199"/>
            <a:ext cx="1463040.000000001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68716" y="2834639"/>
            <a:ext cx="327141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free-text hallucination &amp; schema risk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" y="2880360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3017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A5F"/>
                </a:solidFill>
                <a:latin typeface="Calibri"/>
              </a:rPr>
              <a:t>MATCHES — NOT A CLEAR WIN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337560"/>
            <a:ext cx="9722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Ranking stability τ = 0.965 vs. ≈0.957 — comparable, no regression from a much cheaper architecture.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7240" y="3977639"/>
            <a:ext cx="10637215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77240" y="411480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3A5F"/>
                </a:solidFill>
                <a:latin typeface="Calibri"/>
              </a:rPr>
              <a:t>LIMITATIONS &amp; 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69460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480560"/>
            <a:ext cx="94667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Calibri"/>
              </a:rPr>
              <a:t>Calibration ≠ correctness — test against ground truth next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67882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078982"/>
            <a:ext cx="94667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Calibri"/>
              </a:rPr>
              <a:t>Synthetic-resume corpus only — no fairness claim on real hiring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766304"/>
            <a:ext cx="88900" cy="88900"/>
          </a:xfrm>
          <a:prstGeom prst="rect">
            <a:avLst/>
          </a:prstGeom>
          <a:solidFill>
            <a:srgbClr val="16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677404"/>
            <a:ext cx="946678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Calibri"/>
              </a:rPr>
              <a:t>Screening aid, not a hire/reject decision — human review of evidence still required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7240" y="6400800"/>
            <a:ext cx="10637215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645566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B6B"/>
                </a:solidFill>
                <a:latin typeface="Calibri"/>
              </a:rPr>
              <a:t>Reliable Structured-Decision Applicant Ranking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42855" y="645566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77240" y="2651760"/>
            <a:ext cx="1463040" cy="0"/>
          </a:xfrm>
          <a:prstGeom prst="line">
            <a:avLst/>
          </a:prstGeom>
          <a:ln w="31750">
            <a:solidFill>
              <a:srgbClr val="16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77240" y="2788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1A1A1A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703320"/>
            <a:ext cx="106372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B6B6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Jessie Angelica  ·  President University</a:t>
            </a:r>
          </a:p>
          <a:p>
            <a:pPr algn="l"/>
            <a:r>
              <a:rPr sz="1400" b="0" i="0">
                <a:solidFill>
                  <a:srgbClr val="6B6B6B"/>
                </a:solidFill>
                <a:latin typeface="Calibri"/>
              </a:rPr>
              <a:t>fahmi.zuhri@unitar.my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